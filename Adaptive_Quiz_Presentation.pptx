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FB8FF8-3E7A-4CC9-9433-494B681D04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C8C70E-02F1-4EB1-8A3B-423ADF2355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7BC9AD-B926-4874-82C3-365A0CE02A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577647-8312-4AC5-9A64-858030751A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DE7990-A26B-4A48-A1C2-6C242F2067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ED78E5-03E1-4E8D-B4D4-157FFEC8EC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6608EC-C760-4757-94D6-C6D32E3E62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2F9F8D-C7C4-4951-AD66-DA67A93178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70754B-96A9-4BDB-B9F9-39C0550E1F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A5B35F-F8C3-431E-8FD4-49EBE69EE1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5B1B34-2FF4-4B1F-A144-68DF4CBC99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124E06-12D7-4882-9B0E-BD93B87D182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A697560-B8F2-4E80-A363-C77E7035F1D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2" name="TextBox 2"/>
          <p:cNvSpPr/>
          <p:nvPr/>
        </p:nvSpPr>
        <p:spPr>
          <a:xfrm>
            <a:off x="914400" y="1828800"/>
            <a:ext cx="1033236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fffff"/>
                </a:solidFill>
                <a:latin typeface="Calibri"/>
              </a:rPr>
              <a:t>Adaptive Quiz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914400" y="2743200"/>
            <a:ext cx="103323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2400" spc="-1" strike="noStrike">
                <a:solidFill>
                  <a:srgbClr val="ffffff"/>
                </a:solidFill>
                <a:latin typeface="Calibri"/>
              </a:rPr>
              <a:t>AI-Powered Web Platform for Personalized Learning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5029200" y="3749040"/>
            <a:ext cx="2102760" cy="14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5" name="TextBox 5"/>
          <p:cNvSpPr/>
          <p:nvPr/>
        </p:nvSpPr>
        <p:spPr>
          <a:xfrm>
            <a:off x="914400" y="4114800"/>
            <a:ext cx="103323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eef2ff"/>
                </a:solidFill>
                <a:latin typeface="Calibri"/>
              </a:rPr>
              <a:t>Submitted by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914400" y="4480560"/>
            <a:ext cx="1033236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Sanjna Rathour  ·  UID: O24MCA11201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914400" y="5120640"/>
            <a:ext cx="103323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eef2ff"/>
                </a:solidFill>
                <a:latin typeface="Calibri"/>
              </a:rPr>
              <a:t>Project Guide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914400" y="5486400"/>
            <a:ext cx="10332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Vikas Kumar Atray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" name="TextBox 9"/>
          <p:cNvSpPr/>
          <p:nvPr/>
        </p:nvSpPr>
        <p:spPr>
          <a:xfrm>
            <a:off x="914400" y="6217920"/>
            <a:ext cx="103323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eef2ff"/>
                </a:solidFill>
                <a:latin typeface="Calibri"/>
              </a:rPr>
              <a:t>Master of Computer Applications (AI &amp; ML)  ·  Chandigarh University, Mohali  ·  2025–2026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50" name="CU_LOGO" descr="c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1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Agenda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731520" y="1280160"/>
            <a:ext cx="10698120" cy="39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Problem statement and motivation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Project objectives and scope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Technology stack and system architecture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Design diagrams (DFD, Use Case, UML, ER, Sequence, Activity)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Database schema and the adaptive engine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AI tutor feedback and mid-attempt safety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Two quiz-taking flows (adaptive vs linear)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Testing, results, and how we compare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Calibri"/>
              </a:rPr>
              <a:t>Future scope and conclusion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2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55" name="CU_LOGO" descr="c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6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The Problem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57" name="TextBox 3"/>
          <p:cNvSpPr/>
          <p:nvPr/>
        </p:nvSpPr>
        <p:spPr>
          <a:xfrm>
            <a:off x="731520" y="1188720"/>
            <a:ext cx="1069812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f3a8a"/>
                </a:solidFill>
                <a:latin typeface="Calibri"/>
              </a:rPr>
              <a:t>One-size-fits-all online quizzes punish slow learners and bore fast ones.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8" name="TextBox 4"/>
          <p:cNvSpPr/>
          <p:nvPr/>
        </p:nvSpPr>
        <p:spPr>
          <a:xfrm>
            <a:off x="731520" y="2011680"/>
            <a:ext cx="10698120" cy="23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Static quizzes show every student the same questions in the same order.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Slow learners hit hard questions before they're ready and disengage.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Fast learners breeze through easy questions and lose interest.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Teachers get aggregate scores but no signal on per-student difficulty fit.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Wrong answers receive no explanation — learning rarely happens at the moment of failure.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9" name="TextBox 5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0" name="TextBox 6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3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61" name="CU_LOGO" descr="c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2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Objectives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31520" y="1280160"/>
            <a:ext cx="10698120" cy="273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Build a web platform that personalises question difficulty in real time.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Provide separate, role-aware experiences for students and teachers.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Snapshot every attempt so mid-attempt teacher edits do not corrupt history.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Generate AI-tutor feedback on wrong answers using Google Gemini.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Expose per-student and per-quiz analytics with score distribution charts.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1e293b"/>
                </a:solidFill>
                <a:latin typeface="Calibri"/>
              </a:rPr>
              <a:t>Ship a containerised stack — FastAPI + React + PostgreSQL — runnable in one command.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4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66" name="CU_LOGO" descr="c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7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Technology Stack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68" name="Rectangle 3"/>
          <p:cNvSpPr/>
          <p:nvPr/>
        </p:nvSpPr>
        <p:spPr>
          <a:xfrm>
            <a:off x="731520" y="1371600"/>
            <a:ext cx="5028840" cy="493740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9" name="Rectangle 4"/>
          <p:cNvSpPr/>
          <p:nvPr/>
        </p:nvSpPr>
        <p:spPr>
          <a:xfrm>
            <a:off x="6400800" y="1371600"/>
            <a:ext cx="5028840" cy="493740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0" name="TextBox 5"/>
          <p:cNvSpPr/>
          <p:nvPr/>
        </p:nvSpPr>
        <p:spPr>
          <a:xfrm>
            <a:off x="1005840" y="1463040"/>
            <a:ext cx="50288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f3a8a"/>
                </a:solidFill>
                <a:latin typeface="Calibri"/>
              </a:rPr>
              <a:t>Backend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" name="TextBox 6"/>
          <p:cNvSpPr/>
          <p:nvPr/>
        </p:nvSpPr>
        <p:spPr>
          <a:xfrm>
            <a:off x="1005840" y="1920240"/>
            <a:ext cx="4754520" cy="35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Python 3.11+ with FastAPI (REST + Swagger)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SQLAlchemy 2.x — sync sessions, eager loads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Alembic — 3 reversible migrations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PostgreSQL 16 — UUID PKs, native ENUMs, partial unique indexes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JWT auth — 15-min access + 7-day refresh tokens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bcrypt 4.2.1 — password hashing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Google Gemini (gemini-2.5-flash) — wrong-answer feedback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pytest — 66 tests, 95% coverage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72" name="TextBox 7"/>
          <p:cNvSpPr/>
          <p:nvPr/>
        </p:nvSpPr>
        <p:spPr>
          <a:xfrm>
            <a:off x="6675120" y="1463040"/>
            <a:ext cx="50288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f3a8a"/>
                </a:solidFill>
                <a:latin typeface="Calibri"/>
              </a:rPr>
              <a:t>Frontend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6675120" y="1920240"/>
            <a:ext cx="4754520" cy="262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React 18 + TypeScript (strict)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Vite — instant HMR + production build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Tailwind CSS v4 — utility-first styling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TanStack Query v5 — server-state caching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React Router v6 — role-guarded routes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Headless UI + custom components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Responsive across mobile / tablet / desktop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Bundle ~270 KB (~81 KB gzipped)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5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76" name="CU_LOGO" descr="c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7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System Architecture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78" name="Rectangle 3"/>
          <p:cNvSpPr/>
          <p:nvPr/>
        </p:nvSpPr>
        <p:spPr>
          <a:xfrm>
            <a:off x="731520" y="2286000"/>
            <a:ext cx="3200040" cy="18284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9" name="TextBox 4"/>
          <p:cNvSpPr/>
          <p:nvPr/>
        </p:nvSpPr>
        <p:spPr>
          <a:xfrm>
            <a:off x="731520" y="2560320"/>
            <a:ext cx="32000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React Client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731520" y="310896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r>
              <a:rPr b="0" lang="en-US" sz="1200" spc="-1" strike="noStrike">
                <a:solidFill>
                  <a:srgbClr val="eef2ff"/>
                </a:solidFill>
                <a:latin typeface="Calibri"/>
              </a:rPr>
              <a:t>TypeScript • Tailwind • TanStack Query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ef2ff"/>
                </a:solidFill>
                <a:latin typeface="Calibri"/>
              </a:rPr>
              <a:t>Responsive UI • Role-aware routing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1" name="Rectangle 6"/>
          <p:cNvSpPr/>
          <p:nvPr/>
        </p:nvSpPr>
        <p:spPr>
          <a:xfrm>
            <a:off x="4480560" y="2286000"/>
            <a:ext cx="3200040" cy="18284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2" name="TextBox 7"/>
          <p:cNvSpPr/>
          <p:nvPr/>
        </p:nvSpPr>
        <p:spPr>
          <a:xfrm>
            <a:off x="4480560" y="2560320"/>
            <a:ext cx="32000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FastAPI Backend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" name="TextBox 8"/>
          <p:cNvSpPr/>
          <p:nvPr/>
        </p:nvSpPr>
        <p:spPr>
          <a:xfrm>
            <a:off x="4480560" y="310896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r>
              <a:rPr b="0" lang="en-US" sz="1200" spc="-1" strike="noStrike">
                <a:solidFill>
                  <a:srgbClr val="eef2ff"/>
                </a:solidFill>
                <a:latin typeface="Calibri"/>
              </a:rPr>
              <a:t>JWT auth • REST + Swagger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ef2ff"/>
                </a:solidFill>
                <a:latin typeface="Calibri"/>
              </a:rPr>
              <a:t>Adaptive engine • Snapshot service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4" name="Rectangle 9"/>
          <p:cNvSpPr/>
          <p:nvPr/>
        </p:nvSpPr>
        <p:spPr>
          <a:xfrm>
            <a:off x="8229600" y="2286000"/>
            <a:ext cx="3200040" cy="18284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5" name="TextBox 10"/>
          <p:cNvSpPr/>
          <p:nvPr/>
        </p:nvSpPr>
        <p:spPr>
          <a:xfrm>
            <a:off x="8229600" y="2560320"/>
            <a:ext cx="32000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PostgreSQL + Gemini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" name="TextBox 11"/>
          <p:cNvSpPr/>
          <p:nvPr/>
        </p:nvSpPr>
        <p:spPr>
          <a:xfrm>
            <a:off x="8229600" y="310896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r>
              <a:rPr b="0" lang="en-US" sz="1200" spc="-1" strike="noStrike">
                <a:solidFill>
                  <a:srgbClr val="eef2ff"/>
                </a:solidFill>
                <a:latin typeface="Calibri"/>
              </a:rPr>
              <a:t>8 tables • 3 migrations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ef2ff"/>
                </a:solidFill>
                <a:latin typeface="Calibri"/>
              </a:rPr>
              <a:t>Background AI feedback (free tier)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7" name="TextBox 12"/>
          <p:cNvSpPr/>
          <p:nvPr/>
        </p:nvSpPr>
        <p:spPr>
          <a:xfrm>
            <a:off x="4023360" y="3017520"/>
            <a:ext cx="4568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→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88" name="TextBox 13"/>
          <p:cNvSpPr/>
          <p:nvPr/>
        </p:nvSpPr>
        <p:spPr>
          <a:xfrm>
            <a:off x="7772400" y="3017520"/>
            <a:ext cx="4568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→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89" name="TextBox 14"/>
          <p:cNvSpPr/>
          <p:nvPr/>
        </p:nvSpPr>
        <p:spPr>
          <a:xfrm>
            <a:off x="731520" y="4572000"/>
            <a:ext cx="10698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4b5563"/>
                </a:solidFill>
                <a:latin typeface="Calibri"/>
              </a:rPr>
              <a:t>Single docker-compose.yml orchestrates four services: frontend, backend, database, and (optionally) adminer.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0" name="TextBox 15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1" name="TextBox 16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6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92" name="CU_LOGO" descr="c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3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Use Case Diagram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731520" y="960120"/>
            <a:ext cx="10698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4b5563"/>
                </a:solidFill>
                <a:latin typeface="Calibri"/>
              </a:rPr>
              <a:t>Actors and capabilities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95" name="Picture 4" descr="fig_3_3_use_case.png"/>
          <p:cNvPicPr/>
          <p:nvPr/>
        </p:nvPicPr>
        <p:blipFill>
          <a:blip r:embed="rId1"/>
          <a:stretch/>
        </p:blipFill>
        <p:spPr>
          <a:xfrm>
            <a:off x="914400" y="1371600"/>
            <a:ext cx="10332360" cy="4845960"/>
          </a:xfrm>
          <a:prstGeom prst="rect">
            <a:avLst/>
          </a:prstGeom>
          <a:ln w="0">
            <a:noFill/>
          </a:ln>
        </p:spPr>
      </p:pic>
      <p:sp>
        <p:nvSpPr>
          <p:cNvPr id="96" name="TextBox 5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7" name="TextBox 6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7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98" name="CU_LOGO" descr="cu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9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DFD — Level 0 (Context)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731520" y="960120"/>
            <a:ext cx="10698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4b5563"/>
                </a:solidFill>
                <a:latin typeface="Calibri"/>
              </a:rPr>
              <a:t>Adaptive Quiz Platform as a single system seen by external actors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01" name="Picture 4" descr="fig_3_1_dfd_l0.png"/>
          <p:cNvPicPr/>
          <p:nvPr/>
        </p:nvPicPr>
        <p:blipFill>
          <a:blip r:embed="rId1"/>
          <a:stretch/>
        </p:blipFill>
        <p:spPr>
          <a:xfrm>
            <a:off x="914400" y="1371600"/>
            <a:ext cx="10332360" cy="4845960"/>
          </a:xfrm>
          <a:prstGeom prst="rect">
            <a:avLst/>
          </a:prstGeom>
          <a:ln w="0">
            <a:noFill/>
          </a:ln>
        </p:spPr>
      </p:pic>
      <p:sp>
        <p:nvSpPr>
          <p:cNvPr id="102" name="TextBox 5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3" name="TextBox 6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8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04" name="CU_LOGO" descr="cu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5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DFD — Level 1 (Decomposition)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731520" y="960120"/>
            <a:ext cx="10698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4b5563"/>
                </a:solidFill>
                <a:latin typeface="Calibri"/>
              </a:rPr>
              <a:t>Six internal processes and four data stores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07" name="Picture 4" descr="fig_3_2_dfd_l1.png"/>
          <p:cNvPicPr/>
          <p:nvPr/>
        </p:nvPicPr>
        <p:blipFill>
          <a:blip r:embed="rId1"/>
          <a:stretch/>
        </p:blipFill>
        <p:spPr>
          <a:xfrm>
            <a:off x="914400" y="1371600"/>
            <a:ext cx="10332360" cy="4845960"/>
          </a:xfrm>
          <a:prstGeom prst="rect">
            <a:avLst/>
          </a:prstGeom>
          <a:ln w="0">
            <a:noFill/>
          </a:ln>
        </p:spPr>
      </p:pic>
      <p:sp>
        <p:nvSpPr>
          <p:cNvPr id="108" name="TextBox 5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9" name="TextBox 6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9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10" name="CU_LOGO" descr="cu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1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UML Class Diagram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731520" y="960120"/>
            <a:ext cx="10698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4b5563"/>
                </a:solidFill>
                <a:latin typeface="Calibri"/>
              </a:rPr>
              <a:t>Six core domain classes with attributes, methods, and associations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13" name="Picture 4" descr="fig_4_1_class.png"/>
          <p:cNvPicPr/>
          <p:nvPr/>
        </p:nvPicPr>
        <p:blipFill>
          <a:blip r:embed="rId1"/>
          <a:stretch/>
        </p:blipFill>
        <p:spPr>
          <a:xfrm>
            <a:off x="914400" y="1371600"/>
            <a:ext cx="10332360" cy="4845960"/>
          </a:xfrm>
          <a:prstGeom prst="rect">
            <a:avLst/>
          </a:prstGeom>
          <a:ln w="0">
            <a:noFill/>
          </a:ln>
        </p:spPr>
      </p:pic>
      <p:sp>
        <p:nvSpPr>
          <p:cNvPr id="114" name="TextBox 5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5" name="TextBox 6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10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16" name="CU_LOGO" descr="cu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7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Entity Relationship Diagram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731520" y="960120"/>
            <a:ext cx="10698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4b5563"/>
                </a:solidFill>
                <a:latin typeface="Calibri"/>
              </a:rPr>
              <a:t>Eight tables, 1:N relationships throughout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19" name="Picture 4" descr="fig_4_4_er.png"/>
          <p:cNvPicPr/>
          <p:nvPr/>
        </p:nvPicPr>
        <p:blipFill>
          <a:blip r:embed="rId1"/>
          <a:stretch/>
        </p:blipFill>
        <p:spPr>
          <a:xfrm>
            <a:off x="914400" y="1371600"/>
            <a:ext cx="10332360" cy="4845960"/>
          </a:xfrm>
          <a:prstGeom prst="rect">
            <a:avLst/>
          </a:prstGeom>
          <a:ln w="0">
            <a:noFill/>
          </a:ln>
        </p:spPr>
      </p:pic>
      <p:sp>
        <p:nvSpPr>
          <p:cNvPr id="120" name="TextBox 5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1" name="TextBox 6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11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22" name="CU_LOGO" descr="cu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3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Sequence Diagram — Student Takes an Adaptive Quiz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731520" y="960120"/>
            <a:ext cx="10698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4b5563"/>
                </a:solidFill>
                <a:latin typeface="Calibri"/>
              </a:rPr>
              <a:t>Adaptive endpoint flow across React → FastAPI → engine → DB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25" name="Picture 4" descr="fig_4_2_sequence.png"/>
          <p:cNvPicPr/>
          <p:nvPr/>
        </p:nvPicPr>
        <p:blipFill>
          <a:blip r:embed="rId1"/>
          <a:stretch/>
        </p:blipFill>
        <p:spPr>
          <a:xfrm>
            <a:off x="914400" y="1371600"/>
            <a:ext cx="10332360" cy="4845960"/>
          </a:xfrm>
          <a:prstGeom prst="rect">
            <a:avLst/>
          </a:prstGeom>
          <a:ln w="0">
            <a:noFill/>
          </a:ln>
        </p:spPr>
      </p:pic>
      <p:sp>
        <p:nvSpPr>
          <p:cNvPr id="126" name="TextBox 5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7" name="TextBox 6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12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28" name="CU_LOGO" descr="cu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9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Activity Diagram — Grading an Answer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731520" y="960120"/>
            <a:ext cx="10698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4b5563"/>
                </a:solidFill>
                <a:latin typeface="Calibri"/>
              </a:rPr>
              <a:t>Upsert path with AI-feedback branch for first wrong submission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31" name="Picture 4" descr="fig_4_3_activity.png"/>
          <p:cNvPicPr/>
          <p:nvPr/>
        </p:nvPicPr>
        <p:blipFill>
          <a:blip r:embed="rId1"/>
          <a:stretch/>
        </p:blipFill>
        <p:spPr>
          <a:xfrm>
            <a:off x="914400" y="1371600"/>
            <a:ext cx="10332360" cy="4845960"/>
          </a:xfrm>
          <a:prstGeom prst="rect">
            <a:avLst/>
          </a:prstGeom>
          <a:ln w="0">
            <a:noFill/>
          </a:ln>
        </p:spPr>
      </p:pic>
      <p:sp>
        <p:nvSpPr>
          <p:cNvPr id="132" name="TextBox 5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13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34" name="CU_LOGO" descr="cu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35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Database Schema (8 tables · 3 migrations)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36" name="Rectangle 3"/>
          <p:cNvSpPr/>
          <p:nvPr/>
        </p:nvSpPr>
        <p:spPr>
          <a:xfrm>
            <a:off x="731520" y="1280160"/>
            <a:ext cx="10698120" cy="50256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37" name="TextBox 4"/>
          <p:cNvSpPr/>
          <p:nvPr/>
        </p:nvSpPr>
        <p:spPr>
          <a:xfrm>
            <a:off x="914400" y="1344240"/>
            <a:ext cx="2742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f3a8a"/>
                </a:solidFill>
                <a:latin typeface="Consolas"/>
              </a:rPr>
              <a:t>users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8" name="TextBox 5"/>
          <p:cNvSpPr/>
          <p:nvPr/>
        </p:nvSpPr>
        <p:spPr>
          <a:xfrm>
            <a:off x="3840480" y="1344240"/>
            <a:ext cx="74977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onsolas"/>
              </a:rPr>
              <a:t>id, email, role (ENUM), password_hash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9" name="Rectangle 6"/>
          <p:cNvSpPr/>
          <p:nvPr/>
        </p:nvSpPr>
        <p:spPr>
          <a:xfrm>
            <a:off x="731520" y="1828800"/>
            <a:ext cx="10698120" cy="502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40" name="TextBox 7"/>
          <p:cNvSpPr/>
          <p:nvPr/>
        </p:nvSpPr>
        <p:spPr>
          <a:xfrm>
            <a:off x="914400" y="1892880"/>
            <a:ext cx="2742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f3a8a"/>
                </a:solidFill>
                <a:latin typeface="Consolas"/>
              </a:rPr>
              <a:t>quizzes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1" name="TextBox 8"/>
          <p:cNvSpPr/>
          <p:nvPr/>
        </p:nvSpPr>
        <p:spPr>
          <a:xfrm>
            <a:off x="3840480" y="1892880"/>
            <a:ext cx="74977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onsolas"/>
              </a:rPr>
              <a:t>id, title, is_adaptive, is_published, scheduled_at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2" name="Rectangle 9"/>
          <p:cNvSpPr/>
          <p:nvPr/>
        </p:nvSpPr>
        <p:spPr>
          <a:xfrm>
            <a:off x="731520" y="2377440"/>
            <a:ext cx="10698120" cy="50256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43" name="TextBox 10"/>
          <p:cNvSpPr/>
          <p:nvPr/>
        </p:nvSpPr>
        <p:spPr>
          <a:xfrm>
            <a:off x="914400" y="2441520"/>
            <a:ext cx="2742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f3a8a"/>
                </a:solidFill>
                <a:latin typeface="Consolas"/>
              </a:rPr>
              <a:t>questions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4" name="TextBox 11"/>
          <p:cNvSpPr/>
          <p:nvPr/>
        </p:nvSpPr>
        <p:spPr>
          <a:xfrm>
            <a:off x="3840480" y="2441520"/>
            <a:ext cx="74977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onsolas"/>
              </a:rPr>
              <a:t>id, text, difficulty (ENUM), points, deleted_at (soft delete)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5" name="Rectangle 12"/>
          <p:cNvSpPr/>
          <p:nvPr/>
        </p:nvSpPr>
        <p:spPr>
          <a:xfrm>
            <a:off x="731520" y="2926080"/>
            <a:ext cx="10698120" cy="502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46" name="TextBox 13"/>
          <p:cNvSpPr/>
          <p:nvPr/>
        </p:nvSpPr>
        <p:spPr>
          <a:xfrm>
            <a:off x="914400" y="2990160"/>
            <a:ext cx="2742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f3a8a"/>
                </a:solidFill>
                <a:latin typeface="Consolas"/>
              </a:rPr>
              <a:t>question_options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7" name="TextBox 14"/>
          <p:cNvSpPr/>
          <p:nvPr/>
        </p:nvSpPr>
        <p:spPr>
          <a:xfrm>
            <a:off x="3840480" y="2990160"/>
            <a:ext cx="74977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onsolas"/>
              </a:rPr>
              <a:t>id, question_id, text, is_correct, order_index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8" name="Rectangle 15"/>
          <p:cNvSpPr/>
          <p:nvPr/>
        </p:nvSpPr>
        <p:spPr>
          <a:xfrm>
            <a:off x="731520" y="3474720"/>
            <a:ext cx="10698120" cy="50256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49" name="TextBox 16"/>
          <p:cNvSpPr/>
          <p:nvPr/>
        </p:nvSpPr>
        <p:spPr>
          <a:xfrm>
            <a:off x="914400" y="3538800"/>
            <a:ext cx="2742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f3a8a"/>
                </a:solidFill>
                <a:latin typeface="Consolas"/>
              </a:rPr>
              <a:t>quiz_attempts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0" name="TextBox 17"/>
          <p:cNvSpPr/>
          <p:nvPr/>
        </p:nvSpPr>
        <p:spPr>
          <a:xfrm>
            <a:off x="3840480" y="3538800"/>
            <a:ext cx="74977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onsolas"/>
              </a:rPr>
              <a:t>id, quiz_id, student_id, status, score, ability_estimate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1" name="Rectangle 18"/>
          <p:cNvSpPr/>
          <p:nvPr/>
        </p:nvSpPr>
        <p:spPr>
          <a:xfrm>
            <a:off x="731520" y="4023360"/>
            <a:ext cx="10698120" cy="502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52" name="TextBox 19"/>
          <p:cNvSpPr/>
          <p:nvPr/>
        </p:nvSpPr>
        <p:spPr>
          <a:xfrm>
            <a:off x="914400" y="4087440"/>
            <a:ext cx="2742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f3a8a"/>
                </a:solidFill>
                <a:latin typeface="Consolas"/>
              </a:rPr>
              <a:t>attempt_questions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3" name="TextBox 20"/>
          <p:cNvSpPr/>
          <p:nvPr/>
        </p:nvSpPr>
        <p:spPr>
          <a:xfrm>
            <a:off x="3840480" y="4087440"/>
            <a:ext cx="74977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onsolas"/>
              </a:rPr>
              <a:t>id, attempt_id, question_id  ← snapshot, RESTRICT FK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4" name="Rectangle 21"/>
          <p:cNvSpPr/>
          <p:nvPr/>
        </p:nvSpPr>
        <p:spPr>
          <a:xfrm>
            <a:off x="731520" y="4572000"/>
            <a:ext cx="10698120" cy="50256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55" name="TextBox 22"/>
          <p:cNvSpPr/>
          <p:nvPr/>
        </p:nvSpPr>
        <p:spPr>
          <a:xfrm>
            <a:off x="914400" y="4636080"/>
            <a:ext cx="2742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f3a8a"/>
                </a:solidFill>
                <a:latin typeface="Consolas"/>
              </a:rPr>
              <a:t>answers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6" name="TextBox 23"/>
          <p:cNvSpPr/>
          <p:nvPr/>
        </p:nvSpPr>
        <p:spPr>
          <a:xfrm>
            <a:off x="3840480" y="4636080"/>
            <a:ext cx="74977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onsolas"/>
              </a:rPr>
              <a:t>id, attempt_id, question_id, selected_option_id, is_correct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7" name="Rectangle 24"/>
          <p:cNvSpPr/>
          <p:nvPr/>
        </p:nvSpPr>
        <p:spPr>
          <a:xfrm>
            <a:off x="731520" y="5120640"/>
            <a:ext cx="10698120" cy="502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58" name="TextBox 25"/>
          <p:cNvSpPr/>
          <p:nvPr/>
        </p:nvSpPr>
        <p:spPr>
          <a:xfrm>
            <a:off x="914400" y="5184720"/>
            <a:ext cx="2742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f3a8a"/>
                </a:solidFill>
                <a:latin typeface="Consolas"/>
              </a:rPr>
              <a:t>notifications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9" name="TextBox 26"/>
          <p:cNvSpPr/>
          <p:nvPr/>
        </p:nvSpPr>
        <p:spPr>
          <a:xfrm>
            <a:off x="3840480" y="5184720"/>
            <a:ext cx="74977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onsolas"/>
              </a:rPr>
              <a:t>id, user_id, type, message, related_quiz_id, read_at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0" name="TextBox 27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1" name="TextBox 28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14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62" name="CU_LOGO" descr="c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  <a:p>
            <a:pPr lvl="1"/>
            <a:r>
              <a:rPr sz="1600"/>
              <a:t>Endpoint: POST /quizzes/questions/suggest-difficulty (teacher-only, Gemini classifies text -&gt; EASY/MEDIUM/HARD)</a:t>
            </a:r>
          </a:p>
        </p:txBody>
      </p:sp>
      <p:sp>
        <p:nvSpPr>
          <p:cNvPr id="163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Adaptive Engine — EMA Update Rule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64" name="Rectangle 3"/>
          <p:cNvSpPr/>
          <p:nvPr/>
        </p:nvSpPr>
        <p:spPr>
          <a:xfrm>
            <a:off x="731520" y="1371600"/>
            <a:ext cx="10698120" cy="109692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65" name="TextBox 4"/>
          <p:cNvSpPr/>
          <p:nvPr/>
        </p:nvSpPr>
        <p:spPr>
          <a:xfrm>
            <a:off x="731520" y="1554480"/>
            <a:ext cx="1069812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f3a8a"/>
                </a:solidFill>
                <a:latin typeface="Cambria Math"/>
              </a:rPr>
              <a:t>new_ability  =  α · target(difficulty, is_correct)  +  (1 − α) · prior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66" name="TextBox 5"/>
          <p:cNvSpPr/>
          <p:nvPr/>
        </p:nvSpPr>
        <p:spPr>
          <a:xfrm>
            <a:off x="731520" y="2011680"/>
            <a:ext cx="106981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4b5563"/>
                </a:solidFill>
                <a:latin typeface="Calibri"/>
              </a:rPr>
              <a:t>where α = 0.4  and  target lookup table is asymmetric (rewards harder correct, punishes harder wrong)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7" name="TextBox 6"/>
          <p:cNvSpPr/>
          <p:nvPr/>
        </p:nvSpPr>
        <p:spPr>
          <a:xfrm>
            <a:off x="731520" y="2926080"/>
            <a:ext cx="10698120" cy="20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Each student starts with ability = 0.5 (MEDIUM tier).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After every answer, ability is replayed in creation order so re-submissions stay consistent.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Difficulty tier picked by ability range:  &lt;0.4 → EASY  ·  &lt;0.75 → MEDIUM  ·  ≥0.75 → HARD.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Engine is pure-Python and unit-tested independently of the database layer.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endParaRPr b="0" lang="en-IN" sz="1800" spc="-1" strike="noStrike">
              <a:latin typeface="Arial"/>
            </a:endParaR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Next-question tier decided by Google Gemini (last 6 answers + ability score) via ai_difficulty.recommend_difficulty — EMA tier used as fallback when AI is off.</a:t>
            </a:r>
          </a:p>
          <a:p>
            <a:pPr/>
            <a:r>
              <a:rPr sz="1600"/>
              <a:t>difficulty_override: AI-recommended tier overrides EMA; fallback order still applies if tier exhausted</a:t>
            </a:r>
          </a:p>
          <a:p>
            <a:pPr/>
            <a:r>
              <a:rPr sz="1600"/>
              <a:t>Teacher difficulty suggestion: POST /quizzes/questions/suggest-difficulty -&gt; {difficulty, ai_used}; 'AI set' badge shown on blur</a:t>
            </a:r>
          </a:p>
        </p:txBody>
      </p:sp>
      <p:sp>
        <p:nvSpPr>
          <p:cNvPr id="168" name="TextBox 7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9" name="TextBox 8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15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70" name="CU_LOGO" descr="c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71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AI Tutor Feedback — Google Gemini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731520" y="1280160"/>
            <a:ext cx="52117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f3a8a"/>
                </a:solidFill>
                <a:latin typeface="Calibri"/>
              </a:rPr>
              <a:t>Flow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731520" y="1737360"/>
            <a:ext cx="5211720" cy="25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Student submits a wrong answer for the first time.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Backend enqueues a background task with the question + selected option.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Gemini 2.5 Flash returns ≤300 token explanation.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Feedback stored on the answer row, surfaced in /results.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If Gemini fails, the answer is still graded — no blocking.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endParaRPr b="0" lang="en-IN" sz="1500" spc="-1" strike="noStrike">
              <a:latin typeface="Arial"/>
            </a:endParaRPr>
            <a:r>
              <a:rPr b="0" lang="en-US" sz="1500" spc="-1" strike="noStrike">
                <a:solidFill>
                  <a:srgbClr val="1e293b"/>
                </a:solidFill>
                <a:latin typeface="Calibri"/>
              </a:rPr>
              <a:t>•  Teacher difficulty suggestion: on question text blur, Gemini classifies EASY/MEDIUM/HARD → difficulty dropdown auto-filled, 'AI set' badge shown; teacher can override.</a:t>
            </a:r>
          </a:p>
          <a:p>
            <a:pPr/>
            <a:r>
              <a:rPr sz="1600"/>
              <a:t>Teacher: question text blur -&gt; POST /suggest-difficulty -&gt; Gemini -&gt; EASY/MEDIUM/HARD; ai_used flag drives 'AI set' badge</a:t>
            </a:r>
          </a:p>
        </p:txBody>
      </p:sp>
      <p:sp>
        <p:nvSpPr>
          <p:cNvPr id="174" name="TextBox 5"/>
          <p:cNvSpPr/>
          <p:nvPr/>
        </p:nvSpPr>
        <p:spPr>
          <a:xfrm>
            <a:off x="6400800" y="1280160"/>
            <a:ext cx="52117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f3a8a"/>
                </a:solidFill>
                <a:latin typeface="Calibri"/>
              </a:rPr>
              <a:t>Sample feedback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5" name="Rectangle 6"/>
          <p:cNvSpPr/>
          <p:nvPr/>
        </p:nvSpPr>
        <p:spPr>
          <a:xfrm>
            <a:off x="6400800" y="1737360"/>
            <a:ext cx="5211720" cy="420588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76" name="TextBox 7"/>
          <p:cNvSpPr/>
          <p:nvPr/>
        </p:nvSpPr>
        <p:spPr>
          <a:xfrm>
            <a:off x="6583680" y="1920240"/>
            <a:ext cx="49374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1e293b"/>
                </a:solidFill>
                <a:latin typeface="Calibri"/>
              </a:rPr>
              <a:t>"Photosynthesis happens in chloroplasts, not in mitochondria. Mitochondria are the powerhouses that produce ATP from glucose; chloroplasts capture light energy and synthesise glucose. A handy mnemonic: chloroplasts CHARGE (create energy), mitochondria DISCHARGE (release energy)."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7" name="TextBox 8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8" name="TextBox 9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16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79" name="CU_LOGO" descr="c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80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Mid-Attempt Safety: Soft Delete + Snapshot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81" name="TextBox 3"/>
          <p:cNvSpPr/>
          <p:nvPr/>
        </p:nvSpPr>
        <p:spPr>
          <a:xfrm>
            <a:off x="731520" y="1280160"/>
            <a:ext cx="10698120" cy="25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questions.deleted_at — soft delete instead of DROP, keeps history intact.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attempt_questions — every attempt freezes its own snapshot of questions.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RESTRICT FK from attempt_questions.question_id prevents accidental physical removal.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Adding a question after an attempt started → only future attempts see it.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Soft-deleting a question mid-attempt → skipped silently; existing answers preserved.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Partial unique index UNIQUE (quiz_id, student_id) WHERE status='IN_PROGRESS' blocks duplicate attempts.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2" name="TextBox 4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17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84" name="CU_LOGO" descr="c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85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Two Quiz-Taking Flows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86" name="Rectangle 3"/>
          <p:cNvSpPr/>
          <p:nvPr/>
        </p:nvSpPr>
        <p:spPr>
          <a:xfrm>
            <a:off x="731520" y="1280160"/>
            <a:ext cx="5166000" cy="493740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87" name="Rectangle 4"/>
          <p:cNvSpPr/>
          <p:nvPr/>
        </p:nvSpPr>
        <p:spPr>
          <a:xfrm>
            <a:off x="6263640" y="1280160"/>
            <a:ext cx="5166000" cy="493740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88" name="TextBox 5"/>
          <p:cNvSpPr/>
          <p:nvPr/>
        </p:nvSpPr>
        <p:spPr>
          <a:xfrm>
            <a:off x="1005840" y="1371600"/>
            <a:ext cx="51660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f3a8a"/>
                </a:solidFill>
                <a:latin typeface="Calibri"/>
              </a:rPr>
              <a:t>Adaptive Mode (strict)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9" name="TextBox 6"/>
          <p:cNvSpPr/>
          <p:nvPr/>
        </p:nvSpPr>
        <p:spPr>
          <a:xfrm>
            <a:off x="1005840" y="1828800"/>
            <a:ext cx="4891680" cy="177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One question at a time, picked by EMA engine.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No going back — visible banner explains.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Backend endpoint:  GET /attempts/{id}/next-question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Difficulty escalates with correct answers.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Ends when no more questions match target tier.</a:t>
            </a:r>
            <a:endParaRPr b="0" lang="en-IN" sz="1400" spc="-1" strike="noStrike">
              <a:latin typeface="Arial"/>
            </a:endParaRPr>
          </a:p>
          <a:p>
            <a:pPr/>
            <a:r>
              <a:rPr sz="1600"/>
              <a:t>Resume detection: IN_PROGRESS check before POST; amber banner shown if resuming</a:t>
            </a: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endParaRPr b="0" lang="en-IN" sz="1400" spc="-1" strike="noStrike">
              <a:latin typeface="Arial"/>
            </a:endParaR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 Countdown timer (MM:SS) shown in header; pulses red at ≤60 s.</a:t>
            </a:r>
          </a:p>
          <a:p>
            <a:pPr/>
            <a:r>
              <a:rPr sz="1600"/>
              <a:t>Auto-abandon: deadline enforced at request time; HTTP 410 redirects student out; SYSTEM notification sent.</a:t>
            </a:r>
          </a:p>
        </p:txBody>
      </p:sp>
      <p:sp>
        <p:nvSpPr>
          <p:cNvPr id="190" name="TextBox 7"/>
          <p:cNvSpPr/>
          <p:nvPr/>
        </p:nvSpPr>
        <p:spPr>
          <a:xfrm>
            <a:off x="6537960" y="1371600"/>
            <a:ext cx="51660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f3a8a"/>
                </a:solidFill>
                <a:latin typeface="Calibri"/>
              </a:rPr>
              <a:t>Linear Mode (free navigation)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1" name="TextBox 8"/>
          <p:cNvSpPr/>
          <p:nvPr/>
        </p:nvSpPr>
        <p:spPr>
          <a:xfrm>
            <a:off x="6537960" y="1828800"/>
            <a:ext cx="4891680" cy="15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Full snapshot loaded up-front.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Prev/Next + jump-to grid; upsert on each save.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Backend endpoint:  GET /attempts/{id}/questions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Submit prompts a confirmation modal first.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Re-submission replays ability for consistency.</a:t>
            </a:r>
            <a:endParaRPr b="0" lang="en-IN" sz="1400" spc="-1" strike="noStrike">
              <a:latin typeface="Arial"/>
            </a:endParaRPr>
          </a:p>
          <a:p>
            <a:pPr/>
            <a:r>
              <a:rPr sz="1600"/>
              <a:t>Notification bell: mark-read on click; no auto-redirect (removed to prevent mid-flow disruption)</a:t>
            </a: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endParaRPr b="0" lang="en-IN" sz="1400" spc="-1" strike="noStrike">
              <a:latin typeface="Arial"/>
            </a:endParaR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 Countdown timer shared across both modes; same expiry logic applies.</a:t>
            </a:r>
          </a:p>
          <a:p>
            <a:pPr/>
            <a:r>
              <a:rPr sz="1600"/>
              <a:t>Auto-abandon: next-question &amp; submit-answer both check is_time_expired(); abandon_attempt() + HTTP 410 on expiry.</a:t>
            </a:r>
          </a:p>
        </p:txBody>
      </p:sp>
      <p:sp>
        <p:nvSpPr>
          <p:cNvPr id="192" name="TextBox 9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3" name="TextBox 10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18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94" name="CU_LOGO" descr="c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95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Testing &amp; Quality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96" name="Rectangle 3"/>
          <p:cNvSpPr/>
          <p:nvPr/>
        </p:nvSpPr>
        <p:spPr>
          <a:xfrm>
            <a:off x="731520" y="1463040"/>
            <a:ext cx="10698120" cy="63972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97" name="TextBox 4"/>
          <p:cNvSpPr/>
          <p:nvPr/>
        </p:nvSpPr>
        <p:spPr>
          <a:xfrm>
            <a:off x="914400" y="1600200"/>
            <a:ext cx="41144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f3a8a"/>
                </a:solidFill>
                <a:latin typeface="Calibri"/>
              </a:rPr>
              <a:t>Backend tests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98" name="TextBox 5"/>
          <p:cNvSpPr/>
          <p:nvPr/>
        </p:nvSpPr>
        <p:spPr>
          <a:xfrm>
            <a:off x="5029200" y="1600200"/>
            <a:ext cx="64004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91 pytest tests · 95% coverage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9" name="Rectangle 6"/>
          <p:cNvSpPr/>
          <p:nvPr/>
        </p:nvSpPr>
        <p:spPr>
          <a:xfrm>
            <a:off x="731520" y="2148840"/>
            <a:ext cx="10698120" cy="639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00" name="TextBox 7"/>
          <p:cNvSpPr/>
          <p:nvPr/>
        </p:nvSpPr>
        <p:spPr>
          <a:xfrm>
            <a:off x="914400" y="2286000"/>
            <a:ext cx="41144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f3a8a"/>
                </a:solidFill>
                <a:latin typeface="Calibri"/>
              </a:rPr>
              <a:t>Frontend type check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01" name="TextBox 8"/>
          <p:cNvSpPr/>
          <p:nvPr/>
        </p:nvSpPr>
        <p:spPr>
          <a:xfrm>
            <a:off x="5029200" y="2286000"/>
            <a:ext cx="64004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TypeScript strict · 14 Vitest UI tests · no errors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2" name="Rectangle 9"/>
          <p:cNvSpPr/>
          <p:nvPr/>
        </p:nvSpPr>
        <p:spPr>
          <a:xfrm>
            <a:off x="731520" y="2834640"/>
            <a:ext cx="10698120" cy="63972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03" name="TextBox 10"/>
          <p:cNvSpPr/>
          <p:nvPr/>
        </p:nvSpPr>
        <p:spPr>
          <a:xfrm>
            <a:off x="914400" y="2971800"/>
            <a:ext cx="41144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f3a8a"/>
                </a:solidFill>
                <a:latin typeface="Calibri"/>
              </a:rPr>
              <a:t>Production build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04" name="TextBox 11"/>
          <p:cNvSpPr/>
          <p:nvPr/>
        </p:nvSpPr>
        <p:spPr>
          <a:xfrm>
            <a:off x="5029200" y="2971800"/>
            <a:ext cx="64004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Vite bundle 270 KB · 81 KB gzipped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5" name="Rectangle 12"/>
          <p:cNvSpPr/>
          <p:nvPr/>
        </p:nvSpPr>
        <p:spPr>
          <a:xfrm>
            <a:off x="731520" y="3520440"/>
            <a:ext cx="10698120" cy="639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06" name="TextBox 13"/>
          <p:cNvSpPr/>
          <p:nvPr/>
        </p:nvSpPr>
        <p:spPr>
          <a:xfrm>
            <a:off x="914400" y="3657600"/>
            <a:ext cx="41144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f3a8a"/>
                </a:solidFill>
                <a:latin typeface="Calibri"/>
              </a:rPr>
              <a:t>Database CI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07" name="TextBox 14"/>
          <p:cNvSpPr/>
          <p:nvPr/>
        </p:nvSpPr>
        <p:spPr>
          <a:xfrm>
            <a:off x="5029200" y="3657600"/>
            <a:ext cx="64004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alembic up → down → up against real Postgres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8" name="Rectangle 15"/>
          <p:cNvSpPr/>
          <p:nvPr/>
        </p:nvSpPr>
        <p:spPr>
          <a:xfrm>
            <a:off x="731520" y="4206240"/>
            <a:ext cx="10698120" cy="63972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09" name="TextBox 16"/>
          <p:cNvSpPr/>
          <p:nvPr/>
        </p:nvSpPr>
        <p:spPr>
          <a:xfrm>
            <a:off x="914400" y="4343400"/>
            <a:ext cx="41144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f3a8a"/>
                </a:solidFill>
                <a:latin typeface="Calibri"/>
              </a:rPr>
              <a:t>Smoke test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10" name="TextBox 17"/>
          <p:cNvSpPr/>
          <p:nvPr/>
        </p:nvSpPr>
        <p:spPr>
          <a:xfrm>
            <a:off x="5029200" y="4343400"/>
            <a:ext cx="64004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Full student &amp; teacher journeys, mobile + desktop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1" name="Rectangle 18"/>
          <p:cNvSpPr/>
          <p:nvPr/>
        </p:nvSpPr>
        <p:spPr>
          <a:xfrm>
            <a:off x="731520" y="4892040"/>
            <a:ext cx="10698120" cy="639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12" name="TextBox 19"/>
          <p:cNvSpPr/>
          <p:nvPr/>
        </p:nvSpPr>
        <p:spPr>
          <a:xfrm>
            <a:off x="914400" y="5029200"/>
            <a:ext cx="41144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f3a8a"/>
                </a:solidFill>
                <a:latin typeface="Calibri"/>
              </a:rPr>
              <a:t>Lint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13" name="TextBox 20"/>
          <p:cNvSpPr/>
          <p:nvPr/>
        </p:nvSpPr>
        <p:spPr>
          <a:xfrm>
            <a:off x="5029200" y="5029200"/>
            <a:ext cx="64004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ruff (curated rules) · zero warnings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4" name="TextBox 21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5" name="TextBox 22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19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216" name="CU_LOGO" descr="c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17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How We Compare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18" name="Rectangle 3"/>
          <p:cNvSpPr/>
          <p:nvPr/>
        </p:nvSpPr>
        <p:spPr>
          <a:xfrm>
            <a:off x="731520" y="1280160"/>
            <a:ext cx="10698120" cy="50256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19" name="TextBox 4"/>
          <p:cNvSpPr/>
          <p:nvPr/>
        </p:nvSpPr>
        <p:spPr>
          <a:xfrm>
            <a:off x="731520" y="137160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Feature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0" name="TextBox 5"/>
          <p:cNvSpPr/>
          <p:nvPr/>
        </p:nvSpPr>
        <p:spPr>
          <a:xfrm>
            <a:off x="3931920" y="137160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Kahoot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1" name="TextBox 6"/>
          <p:cNvSpPr/>
          <p:nvPr/>
        </p:nvSpPr>
        <p:spPr>
          <a:xfrm>
            <a:off x="5303520" y="137160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Quizizz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2" name="TextBox 7"/>
          <p:cNvSpPr/>
          <p:nvPr/>
        </p:nvSpPr>
        <p:spPr>
          <a:xfrm>
            <a:off x="6675120" y="137160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Google Forms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3" name="TextBox 8"/>
          <p:cNvSpPr/>
          <p:nvPr/>
        </p:nvSpPr>
        <p:spPr>
          <a:xfrm>
            <a:off x="8229600" y="137160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Khan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4" name="TextBox 9"/>
          <p:cNvSpPr/>
          <p:nvPr/>
        </p:nvSpPr>
        <p:spPr>
          <a:xfrm>
            <a:off x="9601200" y="137160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Adaptive Quiz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5" name="Rectangle 10"/>
          <p:cNvSpPr/>
          <p:nvPr/>
        </p:nvSpPr>
        <p:spPr>
          <a:xfrm>
            <a:off x="731520" y="1828800"/>
            <a:ext cx="10698120" cy="50256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26" name="TextBox 11"/>
          <p:cNvSpPr/>
          <p:nvPr/>
        </p:nvSpPr>
        <p:spPr>
          <a:xfrm>
            <a:off x="731520" y="1920240"/>
            <a:ext cx="18284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</a:rPr>
              <a:t>Adaptive difficulty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7" name="TextBox 12"/>
          <p:cNvSpPr/>
          <p:nvPr/>
        </p:nvSpPr>
        <p:spPr>
          <a:xfrm>
            <a:off x="3931920" y="192024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8" name="TextBox 13"/>
          <p:cNvSpPr/>
          <p:nvPr/>
        </p:nvSpPr>
        <p:spPr>
          <a:xfrm>
            <a:off x="5303520" y="192024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Partial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9" name="TextBox 14"/>
          <p:cNvSpPr/>
          <p:nvPr/>
        </p:nvSpPr>
        <p:spPr>
          <a:xfrm>
            <a:off x="6675120" y="192024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0" name="TextBox 15"/>
          <p:cNvSpPr/>
          <p:nvPr/>
        </p:nvSpPr>
        <p:spPr>
          <a:xfrm>
            <a:off x="8229600" y="192024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Strong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1" name="TextBox 16"/>
          <p:cNvSpPr/>
          <p:nvPr/>
        </p:nvSpPr>
        <p:spPr>
          <a:xfrm>
            <a:off x="9601200" y="192024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Strong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2" name="Rectangle 17"/>
          <p:cNvSpPr/>
          <p:nvPr/>
        </p:nvSpPr>
        <p:spPr>
          <a:xfrm>
            <a:off x="731520" y="2377440"/>
            <a:ext cx="10698120" cy="502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33" name="TextBox 18"/>
          <p:cNvSpPr/>
          <p:nvPr/>
        </p:nvSpPr>
        <p:spPr>
          <a:xfrm>
            <a:off x="731520" y="2468880"/>
            <a:ext cx="18284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</a:rPr>
              <a:t>Open-source / self-hostable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4" name="TextBox 19"/>
          <p:cNvSpPr/>
          <p:nvPr/>
        </p:nvSpPr>
        <p:spPr>
          <a:xfrm>
            <a:off x="3931920" y="246888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5" name="TextBox 20"/>
          <p:cNvSpPr/>
          <p:nvPr/>
        </p:nvSpPr>
        <p:spPr>
          <a:xfrm>
            <a:off x="5303520" y="246888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6" name="TextBox 21"/>
          <p:cNvSpPr/>
          <p:nvPr/>
        </p:nvSpPr>
        <p:spPr>
          <a:xfrm>
            <a:off x="6675120" y="246888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7" name="TextBox 22"/>
          <p:cNvSpPr/>
          <p:nvPr/>
        </p:nvSpPr>
        <p:spPr>
          <a:xfrm>
            <a:off x="8229600" y="246888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8" name="TextBox 23"/>
          <p:cNvSpPr/>
          <p:nvPr/>
        </p:nvSpPr>
        <p:spPr>
          <a:xfrm>
            <a:off x="9601200" y="246888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✓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9" name="Rectangle 24"/>
          <p:cNvSpPr/>
          <p:nvPr/>
        </p:nvSpPr>
        <p:spPr>
          <a:xfrm>
            <a:off x="731520" y="2926080"/>
            <a:ext cx="10698120" cy="50256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40" name="TextBox 25"/>
          <p:cNvSpPr/>
          <p:nvPr/>
        </p:nvSpPr>
        <p:spPr>
          <a:xfrm>
            <a:off x="731520" y="3017520"/>
            <a:ext cx="18284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</a:rPr>
              <a:t>AI feedback on wrong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1" name="TextBox 26"/>
          <p:cNvSpPr/>
          <p:nvPr/>
        </p:nvSpPr>
        <p:spPr>
          <a:xfrm>
            <a:off x="3931920" y="301752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2" name="TextBox 27"/>
          <p:cNvSpPr/>
          <p:nvPr/>
        </p:nvSpPr>
        <p:spPr>
          <a:xfrm>
            <a:off x="5303520" y="301752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3" name="TextBox 28"/>
          <p:cNvSpPr/>
          <p:nvPr/>
        </p:nvSpPr>
        <p:spPr>
          <a:xfrm>
            <a:off x="6675120" y="301752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4" name="TextBox 29"/>
          <p:cNvSpPr/>
          <p:nvPr/>
        </p:nvSpPr>
        <p:spPr>
          <a:xfrm>
            <a:off x="8229600" y="301752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5" name="TextBox 30"/>
          <p:cNvSpPr/>
          <p:nvPr/>
        </p:nvSpPr>
        <p:spPr>
          <a:xfrm>
            <a:off x="9601200" y="301752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✓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(Gemini)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6" name="Rectangle 31"/>
          <p:cNvSpPr/>
          <p:nvPr/>
        </p:nvSpPr>
        <p:spPr>
          <a:xfrm>
            <a:off x="731520" y="3474720"/>
            <a:ext cx="10698120" cy="502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47" name="TextBox 32"/>
          <p:cNvSpPr/>
          <p:nvPr/>
        </p:nvSpPr>
        <p:spPr>
          <a:xfrm>
            <a:off x="731520" y="3566160"/>
            <a:ext cx="18284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</a:rPr>
              <a:t>Snapshot mid-attempt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8" name="TextBox 33"/>
          <p:cNvSpPr/>
          <p:nvPr/>
        </p:nvSpPr>
        <p:spPr>
          <a:xfrm>
            <a:off x="3931920" y="356616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9" name="TextBox 34"/>
          <p:cNvSpPr/>
          <p:nvPr/>
        </p:nvSpPr>
        <p:spPr>
          <a:xfrm>
            <a:off x="5303520" y="356616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0" name="TextBox 35"/>
          <p:cNvSpPr/>
          <p:nvPr/>
        </p:nvSpPr>
        <p:spPr>
          <a:xfrm>
            <a:off x="6675120" y="356616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1" name="TextBox 36"/>
          <p:cNvSpPr/>
          <p:nvPr/>
        </p:nvSpPr>
        <p:spPr>
          <a:xfrm>
            <a:off x="8229600" y="356616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2" name="TextBox 37"/>
          <p:cNvSpPr/>
          <p:nvPr/>
        </p:nvSpPr>
        <p:spPr>
          <a:xfrm>
            <a:off x="9601200" y="356616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✓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3" name="Rectangle 38"/>
          <p:cNvSpPr/>
          <p:nvPr/>
        </p:nvSpPr>
        <p:spPr>
          <a:xfrm>
            <a:off x="731520" y="4023360"/>
            <a:ext cx="10698120" cy="50256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54" name="TextBox 39"/>
          <p:cNvSpPr/>
          <p:nvPr/>
        </p:nvSpPr>
        <p:spPr>
          <a:xfrm>
            <a:off x="731520" y="411480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</a:rPr>
              <a:t>Role-aware UX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5" name="TextBox 40"/>
          <p:cNvSpPr/>
          <p:nvPr/>
        </p:nvSpPr>
        <p:spPr>
          <a:xfrm>
            <a:off x="3931920" y="411480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Basic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6" name="TextBox 41"/>
          <p:cNvSpPr/>
          <p:nvPr/>
        </p:nvSpPr>
        <p:spPr>
          <a:xfrm>
            <a:off x="5303520" y="411480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Basic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7" name="TextBox 42"/>
          <p:cNvSpPr/>
          <p:nvPr/>
        </p:nvSpPr>
        <p:spPr>
          <a:xfrm>
            <a:off x="6675120" y="411480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Basic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8" name="TextBox 43"/>
          <p:cNvSpPr/>
          <p:nvPr/>
        </p:nvSpPr>
        <p:spPr>
          <a:xfrm>
            <a:off x="8229600" y="411480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Strong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9" name="TextBox 44"/>
          <p:cNvSpPr/>
          <p:nvPr/>
        </p:nvSpPr>
        <p:spPr>
          <a:xfrm>
            <a:off x="9601200" y="4114800"/>
            <a:ext cx="1828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Strong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0" name="TextBox 45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1" name="TextBox 46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20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262" name="CU_LOGO" descr="c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63" name="TextBox 2"/>
          <p:cNvSpPr/>
          <p:nvPr/>
        </p:nvSpPr>
        <p:spPr>
          <a:xfrm>
            <a:off x="457200" y="18288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Future Scope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64" name="TextBox 3"/>
          <p:cNvSpPr/>
          <p:nvPr/>
        </p:nvSpPr>
        <p:spPr>
          <a:xfrm>
            <a:off x="731520" y="1280160"/>
            <a:ext cx="10698120" cy="22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Item Response Theory (IRT) model once enough calibration data is collected.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Question-bank reuse: shared questions across quizzes with version control.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Real-time multi-player mode via FastAPI WebSockets (Kahoot-style sync rooms).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Native mobile apps using React Native — share TypeScript types with web.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Cached AI feedback keyed on (question_id, wrong_option_id) to cut Gemini cost.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e293b"/>
                </a:solidFill>
                <a:latin typeface="Calibri"/>
              </a:rPr>
              <a:t>Single-sign-on (Google, Microsoft) for institutional rollouts.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5" name="TextBox 4"/>
          <p:cNvSpPr/>
          <p:nvPr/>
        </p:nvSpPr>
        <p:spPr>
          <a:xfrm>
            <a:off x="457200" y="6446520"/>
            <a:ext cx="5486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4b5563"/>
                </a:solidFill>
                <a:latin typeface="Calibri"/>
              </a:rPr>
              <a:t>Adaptive Quiz — AI-Powered Web Platform for Personalized Learning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6" name="TextBox 5"/>
          <p:cNvSpPr/>
          <p:nvPr/>
        </p:nvSpPr>
        <p:spPr>
          <a:xfrm>
            <a:off x="11247120" y="6446520"/>
            <a:ext cx="914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4b5563"/>
                </a:solidFill>
                <a:latin typeface="Calibri"/>
              </a:rPr>
              <a:t>21 / 22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267" name="CU_LOGO" descr="c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68" name="TextBox 2"/>
          <p:cNvSpPr/>
          <p:nvPr/>
        </p:nvSpPr>
        <p:spPr>
          <a:xfrm>
            <a:off x="914400" y="2286000"/>
            <a:ext cx="1033236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</a:rPr>
              <a:t>Thank you</a:t>
            </a:r>
            <a:endParaRPr b="0" lang="en-IN" sz="7200" spc="-1" strike="noStrike">
              <a:latin typeface="Arial"/>
            </a:endParaRPr>
          </a:p>
        </p:txBody>
      </p:sp>
      <p:sp>
        <p:nvSpPr>
          <p:cNvPr id="269" name="TextBox 3"/>
          <p:cNvSpPr/>
          <p:nvPr/>
        </p:nvSpPr>
        <p:spPr>
          <a:xfrm>
            <a:off x="914400" y="3840480"/>
            <a:ext cx="1033236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2200" spc="-1" strike="noStrike">
                <a:solidFill>
                  <a:srgbClr val="eef2ff"/>
                </a:solidFill>
                <a:latin typeface="Calibri"/>
              </a:rPr>
              <a:t>Questions and discussion welcome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70" name="TextBox 4"/>
          <p:cNvSpPr/>
          <p:nvPr/>
        </p:nvSpPr>
        <p:spPr>
          <a:xfrm>
            <a:off x="914400" y="5029200"/>
            <a:ext cx="10332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Sanjna Rathour  ·  UID: O24MCA11201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71" name="TextBox 5"/>
          <p:cNvSpPr/>
          <p:nvPr/>
        </p:nvSpPr>
        <p:spPr>
          <a:xfrm>
            <a:off x="914400" y="5486400"/>
            <a:ext cx="103323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eef2ff"/>
                </a:solidFill>
                <a:latin typeface="Calibri"/>
              </a:rPr>
              <a:t>Project Guide: Vikas Kumar Atray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272" name="CU_LOGO" descr="c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088" y="109728"/>
            <a:ext cx="1417320" cy="38404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2026-05-11T12:28:04Z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